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8" r:id="rId2"/>
    <p:sldId id="262" r:id="rId3"/>
    <p:sldId id="264" r:id="rId4"/>
    <p:sldId id="273" r:id="rId5"/>
    <p:sldId id="258" r:id="rId6"/>
    <p:sldId id="269" r:id="rId7"/>
    <p:sldId id="274" r:id="rId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BC68F9A1-2C75-4908-9B72-D3CEE0163AF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B99423F1-8B96-4AA2-9571-C3515EB60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53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1D26-DFBA-4331-BAA4-CB3053434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9EABA-408E-4148-B932-57D385A0B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47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1D26-DFBA-4331-BAA4-CB3053434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9EABA-408E-4148-B932-57D385A0B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80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1D26-DFBA-4331-BAA4-CB3053434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9EABA-408E-4148-B932-57D385A0B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25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1D26-DFBA-4331-BAA4-CB3053434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9EABA-408E-4148-B932-57D385A0B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4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1D26-DFBA-4331-BAA4-CB3053434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9EABA-408E-4148-B932-57D385A0B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9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1D26-DFBA-4331-BAA4-CB3053434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9EABA-408E-4148-B932-57D385A0B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4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1D26-DFBA-4331-BAA4-CB3053434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9EABA-408E-4148-B932-57D385A0B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99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1D26-DFBA-4331-BAA4-CB3053434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9EABA-408E-4148-B932-57D385A0B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51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1D26-DFBA-4331-BAA4-CB3053434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9EABA-408E-4148-B932-57D385A0B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8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1D26-DFBA-4331-BAA4-CB3053434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9EABA-408E-4148-B932-57D385A0B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36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1D26-DFBA-4331-BAA4-CB3053434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9EABA-408E-4148-B932-57D385A0B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29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51D26-DFBA-4331-BAA4-CB30534348D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9EABA-408E-4148-B932-57D385A0B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6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/>
          <p:cNvSpPr txBox="1"/>
          <p:nvPr/>
        </p:nvSpPr>
        <p:spPr>
          <a:xfrm>
            <a:off x="1232690" y="3491962"/>
            <a:ext cx="4057974" cy="3222874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5895290" y="1204278"/>
            <a:ext cx="1281722" cy="695569"/>
          </a:xfrm>
          <a:prstGeom prst="roundRect">
            <a:avLst/>
          </a:prstGeom>
          <a:solidFill>
            <a:schemeClr val="accent2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8210" y="391124"/>
            <a:ext cx="1281722" cy="6955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CT Sim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8210" y="1225594"/>
            <a:ext cx="1281722" cy="6955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8210" y="2060064"/>
            <a:ext cx="1281722" cy="6955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Brachy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8210" y="2908035"/>
            <a:ext cx="1281722" cy="6955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Ortho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9546136" y="169093"/>
            <a:ext cx="73891" cy="3698457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437240" y="627716"/>
            <a:ext cx="1281722" cy="695569"/>
          </a:xfrm>
          <a:prstGeom prst="round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 DC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138553" y="169093"/>
            <a:ext cx="2" cy="4744652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50983" y="738909"/>
            <a:ext cx="366167" cy="236450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Firewall</a:t>
            </a:r>
          </a:p>
        </p:txBody>
      </p:sp>
      <p:cxnSp>
        <p:nvCxnSpPr>
          <p:cNvPr id="18" name="Straight Connector 17"/>
          <p:cNvCxnSpPr>
            <a:stCxn id="16" idx="3"/>
          </p:cNvCxnSpPr>
          <p:nvPr/>
        </p:nvCxnSpPr>
        <p:spPr>
          <a:xfrm flipV="1">
            <a:off x="717150" y="1921163"/>
            <a:ext cx="398674" cy="1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437239" y="1552063"/>
            <a:ext cx="1281722" cy="695569"/>
          </a:xfrm>
          <a:prstGeom prst="round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DNS</a:t>
            </a:r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3108323" y="468741"/>
            <a:ext cx="31743" cy="4256247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425957" y="2559359"/>
            <a:ext cx="1281722" cy="6955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Cerner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43743" y="3643037"/>
            <a:ext cx="1577463" cy="9104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94689" y="3655825"/>
            <a:ext cx="1398160" cy="9552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Backup Repo 01 Immutable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1138555" y="169093"/>
            <a:ext cx="8439554" cy="43343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endCxn id="6" idx="1"/>
          </p:cNvCxnSpPr>
          <p:nvPr/>
        </p:nvCxnSpPr>
        <p:spPr>
          <a:xfrm>
            <a:off x="9559636" y="738908"/>
            <a:ext cx="868574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9559636" y="1603219"/>
            <a:ext cx="868574" cy="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9559636" y="2477477"/>
            <a:ext cx="868574" cy="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9596582" y="3254928"/>
            <a:ext cx="868574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431633" y="5536490"/>
            <a:ext cx="1386878" cy="10282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Backup Repo 02</a:t>
            </a:r>
          </a:p>
          <a:p>
            <a:pPr algn="ctr"/>
            <a:r>
              <a:rPr lang="en-US" dirty="0"/>
              <a:t>Immutable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43565" y="5536489"/>
            <a:ext cx="1825422" cy="102825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Backup Repo 03</a:t>
            </a:r>
          </a:p>
          <a:p>
            <a:pPr algn="ctr"/>
            <a:r>
              <a:rPr lang="en-US" dirty="0"/>
              <a:t>Cloud Based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flipH="1">
            <a:off x="4618184" y="2018321"/>
            <a:ext cx="1182253" cy="1519206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 flipV="1">
            <a:off x="2833750" y="4082473"/>
            <a:ext cx="544711" cy="20426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cxnSpLocks/>
          </p:cNvCxnSpPr>
          <p:nvPr/>
        </p:nvCxnSpPr>
        <p:spPr>
          <a:xfrm>
            <a:off x="2093769" y="4611077"/>
            <a:ext cx="16194" cy="879589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2718961" y="4621381"/>
            <a:ext cx="624604" cy="869285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597236" y="4102899"/>
            <a:ext cx="6336145" cy="2611937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9975273" y="5418061"/>
            <a:ext cx="1819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Emergency Preparedness System Behind Firewall</a:t>
            </a:r>
          </a:p>
        </p:txBody>
      </p:sp>
      <p:cxnSp>
        <p:nvCxnSpPr>
          <p:cNvPr id="68" name="Straight Connector 67"/>
          <p:cNvCxnSpPr>
            <a:stCxn id="4" idx="0"/>
          </p:cNvCxnSpPr>
          <p:nvPr/>
        </p:nvCxnSpPr>
        <p:spPr>
          <a:xfrm flipV="1">
            <a:off x="6536151" y="193699"/>
            <a:ext cx="0" cy="101057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6839241" y="2041274"/>
            <a:ext cx="23378" cy="2419890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7718061" y="2908035"/>
            <a:ext cx="1498058" cy="6294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RT-DP Data Helper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>
            <a:off x="7177012" y="1921163"/>
            <a:ext cx="886333" cy="894370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8282184" y="3676685"/>
            <a:ext cx="9237" cy="860323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V="1">
            <a:off x="7416800" y="3676685"/>
            <a:ext cx="403908" cy="708812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6190088" y="4526924"/>
            <a:ext cx="1350240" cy="7749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 Query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819988" y="5848969"/>
            <a:ext cx="3719259" cy="6150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DICOM for File Mode Treatment</a:t>
            </a:r>
          </a:p>
        </p:txBody>
      </p:sp>
      <p:cxnSp>
        <p:nvCxnSpPr>
          <p:cNvPr id="90" name="Straight Arrow Connector 89"/>
          <p:cNvCxnSpPr/>
          <p:nvPr/>
        </p:nvCxnSpPr>
        <p:spPr>
          <a:xfrm flipH="1">
            <a:off x="6023187" y="2032180"/>
            <a:ext cx="38724" cy="3629711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7763373" y="4554773"/>
            <a:ext cx="1775874" cy="7573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Files: Doc, DCM</a:t>
            </a:r>
          </a:p>
        </p:txBody>
      </p:sp>
      <p:cxnSp>
        <p:nvCxnSpPr>
          <p:cNvPr id="113" name="Straight Arrow Connector 112"/>
          <p:cNvCxnSpPr/>
          <p:nvPr/>
        </p:nvCxnSpPr>
        <p:spPr>
          <a:xfrm flipV="1">
            <a:off x="8845603" y="3655826"/>
            <a:ext cx="1" cy="871098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flipH="1" flipV="1">
            <a:off x="8865137" y="5345233"/>
            <a:ext cx="1772" cy="445966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3331073" y="4724988"/>
            <a:ext cx="1642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Backup and Replication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442945" y="1199124"/>
            <a:ext cx="1579057" cy="6955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ARIA Replication</a:t>
            </a:r>
          </a:p>
        </p:txBody>
      </p:sp>
      <p:cxnSp>
        <p:nvCxnSpPr>
          <p:cNvPr id="136" name="Straight Arrow Connector 135"/>
          <p:cNvCxnSpPr>
            <a:cxnSpLocks/>
          </p:cNvCxnSpPr>
          <p:nvPr/>
        </p:nvCxnSpPr>
        <p:spPr>
          <a:xfrm flipV="1">
            <a:off x="4214092" y="2041274"/>
            <a:ext cx="0" cy="1496253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10113818" y="4557967"/>
            <a:ext cx="1579057" cy="743885"/>
          </a:xfrm>
          <a:prstGeom prst="roundRect">
            <a:avLst/>
          </a:prstGeom>
          <a:solidFill>
            <a:schemeClr val="accent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Faked I: Drive</a:t>
            </a:r>
          </a:p>
        </p:txBody>
      </p:sp>
      <p:cxnSp>
        <p:nvCxnSpPr>
          <p:cNvPr id="48" name="Straight Connector 47"/>
          <p:cNvCxnSpPr/>
          <p:nvPr/>
        </p:nvCxnSpPr>
        <p:spPr>
          <a:xfrm flipH="1">
            <a:off x="5313810" y="468741"/>
            <a:ext cx="12077" cy="2868428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9792677" y="4189046"/>
            <a:ext cx="11015" cy="1229015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665820" y="3249065"/>
            <a:ext cx="345120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64742" y="3401465"/>
            <a:ext cx="345120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24096" y="3899603"/>
            <a:ext cx="495026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99569" y="2184482"/>
            <a:ext cx="507064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3.b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47023" y="3903516"/>
            <a:ext cx="495026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3.c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92577" y="3881140"/>
            <a:ext cx="345120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7935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979071" y="380104"/>
            <a:ext cx="1495228" cy="507291"/>
          </a:xfrm>
          <a:prstGeom prst="roundRect">
            <a:avLst/>
          </a:prstGeom>
          <a:solidFill>
            <a:schemeClr val="accent2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ARIA 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18566" y="375839"/>
            <a:ext cx="1495228" cy="507291"/>
          </a:xfrm>
          <a:prstGeom prst="roundRect">
            <a:avLst/>
          </a:prstGeom>
          <a:solidFill>
            <a:schemeClr val="accent2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VMSDBD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6117" y="375839"/>
            <a:ext cx="1495228" cy="507291"/>
          </a:xfrm>
          <a:prstGeom prst="roundRect">
            <a:avLst/>
          </a:prstGeom>
          <a:solidFill>
            <a:schemeClr val="accent2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Server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997527" y="2219407"/>
            <a:ext cx="10238510" cy="64103"/>
          </a:xfrm>
          <a:prstGeom prst="line">
            <a:avLst/>
          </a:prstGeom>
          <a:ln w="47625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16117" y="1490598"/>
            <a:ext cx="1495228" cy="50729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Helper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6909" y="3813543"/>
            <a:ext cx="1191491" cy="675322"/>
          </a:xfrm>
          <a:prstGeom prst="roundRect">
            <a:avLst/>
          </a:prstGeom>
          <a:solidFill>
            <a:schemeClr val="accent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Patient List and Info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1938549" y="1179987"/>
            <a:ext cx="1247063" cy="2505318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489289" y="3813543"/>
            <a:ext cx="1191491" cy="675322"/>
          </a:xfrm>
          <a:prstGeom prst="roundRect">
            <a:avLst/>
          </a:prstGeom>
          <a:solidFill>
            <a:schemeClr val="accent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Questionnaires and Journal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31669" y="3803239"/>
            <a:ext cx="1191491" cy="675322"/>
          </a:xfrm>
          <a:prstGeom prst="roundRect">
            <a:avLst/>
          </a:prstGeom>
          <a:solidFill>
            <a:schemeClr val="accent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RP/CT/RS/RI SeriesUID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74049" y="3813543"/>
            <a:ext cx="1191491" cy="675322"/>
          </a:xfrm>
          <a:prstGeom prst="roundRect">
            <a:avLst/>
          </a:prstGeom>
          <a:solidFill>
            <a:schemeClr val="accent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Files and Locations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87126" y="3803239"/>
            <a:ext cx="1921165" cy="675322"/>
          </a:xfrm>
          <a:prstGeom prst="roundRect">
            <a:avLst/>
          </a:prstGeom>
          <a:solidFill>
            <a:schemeClr val="accent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DICOM RP/CT/RS/RI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3092671" y="1179987"/>
            <a:ext cx="456320" cy="2505318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4000228" y="1179987"/>
            <a:ext cx="306095" cy="2505318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 flipV="1">
            <a:off x="4402772" y="1179987"/>
            <a:ext cx="1129633" cy="2505318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V="1">
            <a:off x="7647709" y="1137639"/>
            <a:ext cx="6350" cy="2547666"/>
          </a:xfrm>
          <a:prstGeom prst="straightConnector1">
            <a:avLst/>
          </a:prstGeom>
          <a:ln w="25400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22" idx="2"/>
            <a:endCxn id="24" idx="2"/>
          </p:cNvCxnSpPr>
          <p:nvPr/>
        </p:nvCxnSpPr>
        <p:spPr>
          <a:xfrm rot="16200000" flipH="1">
            <a:off x="5987562" y="2818414"/>
            <a:ext cx="12700" cy="3320294"/>
          </a:xfrm>
          <a:prstGeom prst="bentConnector3">
            <a:avLst>
              <a:gd name="adj1" fmla="val 26727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030098" y="3803239"/>
            <a:ext cx="1554776" cy="675322"/>
          </a:xfrm>
          <a:prstGeom prst="roundRect">
            <a:avLst/>
          </a:prstGeom>
          <a:solidFill>
            <a:schemeClr val="accent1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Doc and DICOM Files</a:t>
            </a:r>
          </a:p>
        </p:txBody>
      </p:sp>
      <p:cxnSp>
        <p:nvCxnSpPr>
          <p:cNvPr id="64" name="Elbow Connector 63"/>
          <p:cNvCxnSpPr>
            <a:stCxn id="23" idx="2"/>
            <a:endCxn id="62" idx="2"/>
          </p:cNvCxnSpPr>
          <p:nvPr/>
        </p:nvCxnSpPr>
        <p:spPr>
          <a:xfrm rot="5400000" flipH="1" flipV="1">
            <a:off x="7683488" y="2364867"/>
            <a:ext cx="10304" cy="4237691"/>
          </a:xfrm>
          <a:prstGeom prst="bentConnector3">
            <a:avLst>
              <a:gd name="adj1" fmla="val -221855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V="1">
            <a:off x="9616117" y="2070908"/>
            <a:ext cx="153247" cy="1614397"/>
          </a:xfrm>
          <a:prstGeom prst="straightConnector1">
            <a:avLst/>
          </a:prstGeom>
          <a:ln w="25400"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V="1">
            <a:off x="10977418" y="2084666"/>
            <a:ext cx="11679" cy="1103666"/>
          </a:xfrm>
          <a:prstGeom prst="straightConnector1">
            <a:avLst/>
          </a:prstGeom>
          <a:ln w="25400"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H="1" flipV="1">
            <a:off x="9962302" y="2084664"/>
            <a:ext cx="86862" cy="1631800"/>
          </a:xfrm>
          <a:prstGeom prst="straightConnector1">
            <a:avLst/>
          </a:prstGeom>
          <a:ln w="25400"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V="1">
            <a:off x="10363731" y="937579"/>
            <a:ext cx="0" cy="484816"/>
          </a:xfrm>
          <a:prstGeom prst="straightConnector1">
            <a:avLst/>
          </a:prstGeom>
          <a:ln w="25400"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1062182" y="3308744"/>
            <a:ext cx="10178473" cy="2131470"/>
          </a:xfrm>
          <a:prstGeom prst="rect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858982" y="1967338"/>
            <a:ext cx="11822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Firewall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7527" y="184722"/>
            <a:ext cx="10307249" cy="874707"/>
          </a:xfrm>
          <a:prstGeom prst="rect">
            <a:avLst/>
          </a:prstGeom>
          <a:noFill/>
          <a:ln w="254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1246909" y="375839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ARIA System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974444" y="2913002"/>
            <a:ext cx="517237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941067" y="2908389"/>
            <a:ext cx="517237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1.b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961153" y="2914790"/>
            <a:ext cx="517237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1.c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997472" y="2914790"/>
            <a:ext cx="517237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1.d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89089" y="2909119"/>
            <a:ext cx="517237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261030" y="2914789"/>
            <a:ext cx="517237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3.a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851576" y="2914789"/>
            <a:ext cx="517237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3.c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718800" y="2533665"/>
            <a:ext cx="517237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460181" y="1137639"/>
            <a:ext cx="517237" cy="27354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3.b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362356" y="4667190"/>
            <a:ext cx="2318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Isolated RT Emergency Preparedness Module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4328" y="5874326"/>
            <a:ext cx="10852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RT-DP data retrieving illustration. After NIC enabled at scheduled time, 1.a-1.d: SQL queries of Aria DB; 2: DICOM C-MOVE based on SeriesUID queried from step 1.c; 3.a: files copy request based on the result of 1.d; 3.b: file copy from RT file/image server; 3.c: file copy from data helper; 4: send a copy of files from all previous steps to data helper. NIC will be disabled after all steps.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19428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443345" y="332509"/>
            <a:ext cx="11231419" cy="252152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43345" y="3166834"/>
            <a:ext cx="11231419" cy="331709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804804" y="508000"/>
            <a:ext cx="2081024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CBCT Recon 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3227" y="508000"/>
            <a:ext cx="2081024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Treat Console 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6463" y="508000"/>
            <a:ext cx="2081024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IRM 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79699" y="508000"/>
            <a:ext cx="2081024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  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81112" y="1348510"/>
            <a:ext cx="2595951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Imaging Network Switch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61547" y="1348510"/>
            <a:ext cx="2595951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Console Network Switch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3053" y="2138345"/>
            <a:ext cx="1581194" cy="438728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Juniper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0426" y="3606926"/>
            <a:ext cx="3837354" cy="438728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TrueBeam </a:t>
            </a:r>
            <a:r>
              <a:rPr lang="en-US" dirty="0">
                <a:sym typeface="Wingdings" panose="05000000000000000000" pitchFamily="2" charset="2"/>
              </a:rPr>
              <a:t> Servers Switch/Router</a:t>
            </a:r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3044879" y="4528375"/>
            <a:ext cx="2595951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Supporting 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6424" y="4528375"/>
            <a:ext cx="2595951" cy="43872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I: Drive Server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48651" y="5787956"/>
            <a:ext cx="3255203" cy="438728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RT-DP Data Query and Storage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2454180" y="946728"/>
            <a:ext cx="2693" cy="401782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3971723" y="946728"/>
            <a:ext cx="11057" cy="394917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269386" y="969911"/>
            <a:ext cx="678713" cy="360143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7110575" y="945846"/>
            <a:ext cx="0" cy="415152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8557487" y="969911"/>
            <a:ext cx="722212" cy="371734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22" idx="0"/>
          </p:cNvCxnSpPr>
          <p:nvPr/>
        </p:nvCxnSpPr>
        <p:spPr>
          <a:xfrm flipH="1">
            <a:off x="5833650" y="1803401"/>
            <a:ext cx="391659" cy="334944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2" idx="2"/>
            <a:endCxn id="23" idx="0"/>
          </p:cNvCxnSpPr>
          <p:nvPr/>
        </p:nvCxnSpPr>
        <p:spPr>
          <a:xfrm>
            <a:off x="5833650" y="2577073"/>
            <a:ext cx="15453" cy="1029853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4" idx="0"/>
          </p:cNvCxnSpPr>
          <p:nvPr/>
        </p:nvCxnSpPr>
        <p:spPr>
          <a:xfrm flipH="1" flipV="1">
            <a:off x="4331855" y="4062941"/>
            <a:ext cx="11000" cy="465434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5" idx="0"/>
          </p:cNvCxnSpPr>
          <p:nvPr/>
        </p:nvCxnSpPr>
        <p:spPr>
          <a:xfrm flipH="1" flipV="1">
            <a:off x="7259523" y="4032301"/>
            <a:ext cx="4877" cy="496074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26" idx="0"/>
            <a:endCxn id="25" idx="2"/>
          </p:cNvCxnSpPr>
          <p:nvPr/>
        </p:nvCxnSpPr>
        <p:spPr>
          <a:xfrm flipH="1" flipV="1">
            <a:off x="7264400" y="4967103"/>
            <a:ext cx="11853" cy="820853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382090" y="2293111"/>
            <a:ext cx="164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TrueBeam 2.x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3881" y="5852608"/>
            <a:ext cx="2916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RT-DP Tx Module for TB 2.x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0" y="3196463"/>
            <a:ext cx="1681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Linac vLan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92237" y="4112921"/>
            <a:ext cx="172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Server vLan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5705" y="5262226"/>
            <a:ext cx="19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 to</a:t>
            </a:r>
          </a:p>
        </p:txBody>
      </p:sp>
    </p:spTree>
    <p:extLst>
      <p:ext uri="{BB962C8B-B14F-4D97-AF65-F5344CB8AC3E}">
        <p14:creationId xmlns:p14="http://schemas.microsoft.com/office/powerpoint/2010/main" val="125867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E4176-BBAC-E8CB-FE0A-D4C6CDFF9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D36604C-CAED-F114-D916-9C086730D960}"/>
              </a:ext>
            </a:extLst>
          </p:cNvPr>
          <p:cNvSpPr/>
          <p:nvPr/>
        </p:nvSpPr>
        <p:spPr>
          <a:xfrm>
            <a:off x="443345" y="332509"/>
            <a:ext cx="11231419" cy="252152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15E682-155E-C1D6-A259-723FA062354B}"/>
              </a:ext>
            </a:extLst>
          </p:cNvPr>
          <p:cNvSpPr/>
          <p:nvPr/>
        </p:nvSpPr>
        <p:spPr>
          <a:xfrm>
            <a:off x="443345" y="3166834"/>
            <a:ext cx="11231419" cy="331709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DA359E1-B029-0831-EB32-1ED1D697A1CD}"/>
              </a:ext>
            </a:extLst>
          </p:cNvPr>
          <p:cNvSpPr/>
          <p:nvPr/>
        </p:nvSpPr>
        <p:spPr>
          <a:xfrm>
            <a:off x="804804" y="508000"/>
            <a:ext cx="2081024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CBCT Recon WS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7F0895F-E5F3-E566-DCDF-0E5DD86B48D6}"/>
              </a:ext>
            </a:extLst>
          </p:cNvPr>
          <p:cNvSpPr/>
          <p:nvPr/>
        </p:nvSpPr>
        <p:spPr>
          <a:xfrm>
            <a:off x="3673227" y="508000"/>
            <a:ext cx="2081024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Treat Console WS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2AFAA3C-F1EB-C3CB-1656-1BD5EC7145EC}"/>
              </a:ext>
            </a:extLst>
          </p:cNvPr>
          <p:cNvSpPr/>
          <p:nvPr/>
        </p:nvSpPr>
        <p:spPr>
          <a:xfrm>
            <a:off x="6476463" y="508000"/>
            <a:ext cx="2081024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IRM WS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E543CA5-20E4-3AA5-6B04-0AFF3F1E50A3}"/>
              </a:ext>
            </a:extLst>
          </p:cNvPr>
          <p:cNvSpPr/>
          <p:nvPr/>
        </p:nvSpPr>
        <p:spPr>
          <a:xfrm>
            <a:off x="9279699" y="508000"/>
            <a:ext cx="2081024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  WS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EDBFC6E-1BF8-0259-F432-5AFC189FA051}"/>
              </a:ext>
            </a:extLst>
          </p:cNvPr>
          <p:cNvSpPr/>
          <p:nvPr/>
        </p:nvSpPr>
        <p:spPr>
          <a:xfrm>
            <a:off x="1881112" y="1348510"/>
            <a:ext cx="2595951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Imaging Network Switch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95E1380-DA09-F484-CF7B-C8B71AC71EBA}"/>
              </a:ext>
            </a:extLst>
          </p:cNvPr>
          <p:cNvSpPr/>
          <p:nvPr/>
        </p:nvSpPr>
        <p:spPr>
          <a:xfrm>
            <a:off x="5961547" y="1348510"/>
            <a:ext cx="2595951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Console Network Switch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ED5E343-E996-5702-9E49-720BEDAE667B}"/>
              </a:ext>
            </a:extLst>
          </p:cNvPr>
          <p:cNvSpPr/>
          <p:nvPr/>
        </p:nvSpPr>
        <p:spPr>
          <a:xfrm>
            <a:off x="5043053" y="2138345"/>
            <a:ext cx="1581194" cy="438728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Juniper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4CDA9FD-0BCF-4087-6C19-24CC1314918E}"/>
              </a:ext>
            </a:extLst>
          </p:cNvPr>
          <p:cNvSpPr/>
          <p:nvPr/>
        </p:nvSpPr>
        <p:spPr>
          <a:xfrm>
            <a:off x="4985051" y="3299256"/>
            <a:ext cx="1697198" cy="438728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Wingdings" panose="05000000000000000000" pitchFamily="2" charset="2"/>
              </a:rPr>
              <a:t>Physical Switch</a:t>
            </a:r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72ACA20-4F92-C736-ABB9-833B7FF2C435}"/>
              </a:ext>
            </a:extLst>
          </p:cNvPr>
          <p:cNvSpPr/>
          <p:nvPr/>
        </p:nvSpPr>
        <p:spPr>
          <a:xfrm>
            <a:off x="638030" y="3299256"/>
            <a:ext cx="1946148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Supporting WS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CA8E302-3113-0548-D0A6-4794B540D913}"/>
              </a:ext>
            </a:extLst>
          </p:cNvPr>
          <p:cNvSpPr/>
          <p:nvPr/>
        </p:nvSpPr>
        <p:spPr>
          <a:xfrm>
            <a:off x="4559527" y="5331003"/>
            <a:ext cx="2595951" cy="65872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VA_TRANSFER SMB </a:t>
            </a:r>
            <a:r>
              <a:rPr lang="en-US" dirty="0" err="1"/>
              <a:t>Svr</a:t>
            </a:r>
            <a:r>
              <a:rPr lang="en-US" dirty="0"/>
              <a:t> (I: Drive)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925BE56-9D8E-DC1D-294E-545C0F621955}"/>
              </a:ext>
            </a:extLst>
          </p:cNvPr>
          <p:cNvSpPr/>
          <p:nvPr/>
        </p:nvSpPr>
        <p:spPr>
          <a:xfrm>
            <a:off x="638030" y="5331002"/>
            <a:ext cx="1946148" cy="658725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RT-DP Data Query and Storage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42D08E8-3DAD-7B74-5762-32A7E807F151}"/>
              </a:ext>
            </a:extLst>
          </p:cNvPr>
          <p:cNvCxnSpPr/>
          <p:nvPr/>
        </p:nvCxnSpPr>
        <p:spPr>
          <a:xfrm flipH="1">
            <a:off x="2454180" y="946728"/>
            <a:ext cx="2693" cy="401782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DAAC70-2153-78B7-46DA-DB3C62F6D8A2}"/>
              </a:ext>
            </a:extLst>
          </p:cNvPr>
          <p:cNvCxnSpPr/>
          <p:nvPr/>
        </p:nvCxnSpPr>
        <p:spPr>
          <a:xfrm flipH="1">
            <a:off x="3971723" y="946728"/>
            <a:ext cx="11057" cy="394917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3C5B4D5-FEBB-C426-4547-FF5EE534BB41}"/>
              </a:ext>
            </a:extLst>
          </p:cNvPr>
          <p:cNvCxnSpPr/>
          <p:nvPr/>
        </p:nvCxnSpPr>
        <p:spPr>
          <a:xfrm>
            <a:off x="5269386" y="969911"/>
            <a:ext cx="678713" cy="360143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C062E7C-1C99-B5FB-28D5-A774ABCE5537}"/>
              </a:ext>
            </a:extLst>
          </p:cNvPr>
          <p:cNvCxnSpPr/>
          <p:nvPr/>
        </p:nvCxnSpPr>
        <p:spPr>
          <a:xfrm>
            <a:off x="7110575" y="945846"/>
            <a:ext cx="0" cy="415152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64089EE-DEC6-CD40-D5D6-F543CAC39F80}"/>
              </a:ext>
            </a:extLst>
          </p:cNvPr>
          <p:cNvCxnSpPr/>
          <p:nvPr/>
        </p:nvCxnSpPr>
        <p:spPr>
          <a:xfrm flipH="1">
            <a:off x="8557487" y="969911"/>
            <a:ext cx="722212" cy="371734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5B684E2-8D54-0786-802A-4594AE4910A3}"/>
              </a:ext>
            </a:extLst>
          </p:cNvPr>
          <p:cNvCxnSpPr>
            <a:endCxn id="22" idx="0"/>
          </p:cNvCxnSpPr>
          <p:nvPr/>
        </p:nvCxnSpPr>
        <p:spPr>
          <a:xfrm flipH="1">
            <a:off x="5833650" y="1803401"/>
            <a:ext cx="391659" cy="334944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3858752-579B-0FF9-1102-75B07E75ACC0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5833650" y="2577073"/>
            <a:ext cx="0" cy="722183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270A89F-596C-1F75-9DF1-46A5D09F4C51}"/>
              </a:ext>
            </a:extLst>
          </p:cNvPr>
          <p:cNvCxnSpPr>
            <a:cxnSpLocks/>
            <a:stCxn id="24" idx="3"/>
            <a:endCxn id="23" idx="1"/>
          </p:cNvCxnSpPr>
          <p:nvPr/>
        </p:nvCxnSpPr>
        <p:spPr>
          <a:xfrm>
            <a:off x="2584178" y="3518620"/>
            <a:ext cx="2400873" cy="0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9E6B7BE-BA31-AFD7-67E3-A5D10C543241}"/>
              </a:ext>
            </a:extLst>
          </p:cNvPr>
          <p:cNvCxnSpPr>
            <a:cxnSpLocks/>
            <a:stCxn id="27" idx="0"/>
            <a:endCxn id="23" idx="2"/>
          </p:cNvCxnSpPr>
          <p:nvPr/>
        </p:nvCxnSpPr>
        <p:spPr>
          <a:xfrm flipH="1" flipV="1">
            <a:off x="5833650" y="3737984"/>
            <a:ext cx="9234" cy="506202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4E9271-2075-63FD-26DF-D7E506A70BA5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>
            <a:off x="2584178" y="5660365"/>
            <a:ext cx="1975349" cy="1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C4DA96D-DD37-E8CE-8A38-DA20A3BC597B}"/>
              </a:ext>
            </a:extLst>
          </p:cNvPr>
          <p:cNvSpPr txBox="1"/>
          <p:nvPr/>
        </p:nvSpPr>
        <p:spPr>
          <a:xfrm>
            <a:off x="9382090" y="2293111"/>
            <a:ext cx="1461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TrueBeam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0ED6BE3-1AB4-D657-3237-198739D4FAB9}"/>
              </a:ext>
            </a:extLst>
          </p:cNvPr>
          <p:cNvSpPr txBox="1"/>
          <p:nvPr/>
        </p:nvSpPr>
        <p:spPr>
          <a:xfrm>
            <a:off x="638030" y="4189865"/>
            <a:ext cx="2647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RT-DP Tx Module for All Linacs including TB 3.x/4.x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B605668-7A53-607C-7F35-0E900BBE4A88}"/>
              </a:ext>
            </a:extLst>
          </p:cNvPr>
          <p:cNvSpPr txBox="1"/>
          <p:nvPr/>
        </p:nvSpPr>
        <p:spPr>
          <a:xfrm>
            <a:off x="4578659" y="3866420"/>
            <a:ext cx="114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Linac vLan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83191E6-943F-67C1-2E92-66D0E31F3343}"/>
              </a:ext>
            </a:extLst>
          </p:cNvPr>
          <p:cNvSpPr txBox="1"/>
          <p:nvPr/>
        </p:nvSpPr>
        <p:spPr>
          <a:xfrm>
            <a:off x="5850856" y="4837596"/>
            <a:ext cx="134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Server vLan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802EAA-DA99-B221-F4F0-AB7552C7A071}"/>
              </a:ext>
            </a:extLst>
          </p:cNvPr>
          <p:cNvSpPr txBox="1"/>
          <p:nvPr/>
        </p:nvSpPr>
        <p:spPr>
          <a:xfrm>
            <a:off x="2984179" y="5222236"/>
            <a:ext cx="101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 to</a:t>
            </a:r>
          </a:p>
        </p:txBody>
      </p:sp>
      <p:sp>
        <p:nvSpPr>
          <p:cNvPr id="27" name="Rounded Rectangle 22">
            <a:extLst>
              <a:ext uri="{FF2B5EF4-FFF2-40B4-BE49-F238E27FC236}">
                <a16:creationId xmlns:a16="http://schemas.microsoft.com/office/drawing/2014/main" id="{7156CF1E-76A9-4E45-3D43-9A7AD27A7F0B}"/>
              </a:ext>
            </a:extLst>
          </p:cNvPr>
          <p:cNvSpPr/>
          <p:nvPr/>
        </p:nvSpPr>
        <p:spPr>
          <a:xfrm>
            <a:off x="4547347" y="4244186"/>
            <a:ext cx="2591073" cy="438728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Wingdings" panose="05000000000000000000" pitchFamily="2" charset="2"/>
              </a:rPr>
              <a:t>Virtual Firewall Switch</a:t>
            </a:r>
            <a:endParaRPr lang="en-US" dirty="0"/>
          </a:p>
        </p:txBody>
      </p:sp>
      <p:sp>
        <p:nvSpPr>
          <p:cNvPr id="53" name="Rounded Rectangle 24">
            <a:extLst>
              <a:ext uri="{FF2B5EF4-FFF2-40B4-BE49-F238E27FC236}">
                <a16:creationId xmlns:a16="http://schemas.microsoft.com/office/drawing/2014/main" id="{82D74079-80B1-D1EC-4A28-A973DA4A0473}"/>
              </a:ext>
            </a:extLst>
          </p:cNvPr>
          <p:cNvSpPr/>
          <p:nvPr/>
        </p:nvSpPr>
        <p:spPr>
          <a:xfrm>
            <a:off x="8032052" y="4244185"/>
            <a:ext cx="1242770" cy="43872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 DC</a:t>
            </a:r>
          </a:p>
        </p:txBody>
      </p:sp>
      <p:sp>
        <p:nvSpPr>
          <p:cNvPr id="54" name="Rounded Rectangle 24">
            <a:extLst>
              <a:ext uri="{FF2B5EF4-FFF2-40B4-BE49-F238E27FC236}">
                <a16:creationId xmlns:a16="http://schemas.microsoft.com/office/drawing/2014/main" id="{4D1BDF73-1553-BED4-CFCE-56AC859DA25A}"/>
              </a:ext>
            </a:extLst>
          </p:cNvPr>
          <p:cNvSpPr/>
          <p:nvPr/>
        </p:nvSpPr>
        <p:spPr>
          <a:xfrm>
            <a:off x="8036929" y="5144691"/>
            <a:ext cx="1237893" cy="43872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VSP</a:t>
            </a:r>
          </a:p>
        </p:txBody>
      </p:sp>
      <p:sp>
        <p:nvSpPr>
          <p:cNvPr id="55" name="Rounded Rectangle 24">
            <a:extLst>
              <a:ext uri="{FF2B5EF4-FFF2-40B4-BE49-F238E27FC236}">
                <a16:creationId xmlns:a16="http://schemas.microsoft.com/office/drawing/2014/main" id="{4D840C30-C378-6EE6-CAD2-42393A12219F}"/>
              </a:ext>
            </a:extLst>
          </p:cNvPr>
          <p:cNvSpPr/>
          <p:nvPr/>
        </p:nvSpPr>
        <p:spPr>
          <a:xfrm>
            <a:off x="8032052" y="5911271"/>
            <a:ext cx="1242770" cy="43872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ARIA DB</a:t>
            </a:r>
          </a:p>
        </p:txBody>
      </p:sp>
      <p:sp>
        <p:nvSpPr>
          <p:cNvPr id="56" name="Rounded Rectangle 24">
            <a:extLst>
              <a:ext uri="{FF2B5EF4-FFF2-40B4-BE49-F238E27FC236}">
                <a16:creationId xmlns:a16="http://schemas.microsoft.com/office/drawing/2014/main" id="{23A3A131-586A-68A6-7C77-D1C8AA5002D4}"/>
              </a:ext>
            </a:extLst>
          </p:cNvPr>
          <p:cNvSpPr/>
          <p:nvPr/>
        </p:nvSpPr>
        <p:spPr>
          <a:xfrm>
            <a:off x="10112791" y="3934804"/>
            <a:ext cx="1247647" cy="43872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IMG</a:t>
            </a:r>
          </a:p>
        </p:txBody>
      </p:sp>
      <p:sp>
        <p:nvSpPr>
          <p:cNvPr id="57" name="Rounded Rectangle 24">
            <a:extLst>
              <a:ext uri="{FF2B5EF4-FFF2-40B4-BE49-F238E27FC236}">
                <a16:creationId xmlns:a16="http://schemas.microsoft.com/office/drawing/2014/main" id="{A289DE73-8B24-E97F-9CE5-076297392AB7}"/>
              </a:ext>
            </a:extLst>
          </p:cNvPr>
          <p:cNvSpPr/>
          <p:nvPr/>
        </p:nvSpPr>
        <p:spPr>
          <a:xfrm>
            <a:off x="10112791" y="4591168"/>
            <a:ext cx="1247648" cy="43872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DCM</a:t>
            </a:r>
          </a:p>
        </p:txBody>
      </p:sp>
      <p:sp>
        <p:nvSpPr>
          <p:cNvPr id="58" name="Rounded Rectangle 24">
            <a:extLst>
              <a:ext uri="{FF2B5EF4-FFF2-40B4-BE49-F238E27FC236}">
                <a16:creationId xmlns:a16="http://schemas.microsoft.com/office/drawing/2014/main" id="{18E438C7-24EE-2036-D143-05BBCD8F7D9E}"/>
              </a:ext>
            </a:extLst>
          </p:cNvPr>
          <p:cNvSpPr/>
          <p:nvPr/>
        </p:nvSpPr>
        <p:spPr>
          <a:xfrm>
            <a:off x="10129502" y="5247532"/>
            <a:ext cx="1247649" cy="43872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DCF</a:t>
            </a:r>
          </a:p>
        </p:txBody>
      </p:sp>
      <p:sp>
        <p:nvSpPr>
          <p:cNvPr id="59" name="Rounded Rectangle 24">
            <a:extLst>
              <a:ext uri="{FF2B5EF4-FFF2-40B4-BE49-F238E27FC236}">
                <a16:creationId xmlns:a16="http://schemas.microsoft.com/office/drawing/2014/main" id="{5282BD54-DE94-9790-5330-3062EC318710}"/>
              </a:ext>
            </a:extLst>
          </p:cNvPr>
          <p:cNvSpPr/>
          <p:nvPr/>
        </p:nvSpPr>
        <p:spPr>
          <a:xfrm>
            <a:off x="10129502" y="5903896"/>
            <a:ext cx="1247650" cy="43872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5551D71-8B05-59C8-D17A-EBD1C9F0861F}"/>
              </a:ext>
            </a:extLst>
          </p:cNvPr>
          <p:cNvCxnSpPr>
            <a:cxnSpLocks/>
            <a:stCxn id="25" idx="0"/>
            <a:endCxn id="27" idx="2"/>
          </p:cNvCxnSpPr>
          <p:nvPr/>
        </p:nvCxnSpPr>
        <p:spPr>
          <a:xfrm flipH="1" flipV="1">
            <a:off x="5842884" y="4682914"/>
            <a:ext cx="14619" cy="648089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FEC3923-F0A9-8F46-39DF-983D533956FB}"/>
              </a:ext>
            </a:extLst>
          </p:cNvPr>
          <p:cNvCxnSpPr>
            <a:cxnSpLocks/>
            <a:stCxn id="53" idx="1"/>
            <a:endCxn id="27" idx="3"/>
          </p:cNvCxnSpPr>
          <p:nvPr/>
        </p:nvCxnSpPr>
        <p:spPr>
          <a:xfrm flipH="1">
            <a:off x="7138420" y="4463550"/>
            <a:ext cx="893632" cy="0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2B58BBF-ED73-FC25-F8A6-131B72D45E72}"/>
              </a:ext>
            </a:extLst>
          </p:cNvPr>
          <p:cNvCxnSpPr>
            <a:cxnSpLocks/>
            <a:stCxn id="54" idx="1"/>
          </p:cNvCxnSpPr>
          <p:nvPr/>
        </p:nvCxnSpPr>
        <p:spPr>
          <a:xfrm flipH="1" flipV="1">
            <a:off x="7153040" y="4650492"/>
            <a:ext cx="883889" cy="713564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4762673-09E9-B36E-58D0-44A5D8DCC0D0}"/>
              </a:ext>
            </a:extLst>
          </p:cNvPr>
          <p:cNvCxnSpPr>
            <a:cxnSpLocks/>
            <a:stCxn id="55" idx="1"/>
          </p:cNvCxnSpPr>
          <p:nvPr/>
        </p:nvCxnSpPr>
        <p:spPr>
          <a:xfrm flipH="1" flipV="1">
            <a:off x="6794447" y="4682914"/>
            <a:ext cx="1237605" cy="1447722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23">
            <a:extLst>
              <a:ext uri="{FF2B5EF4-FFF2-40B4-BE49-F238E27FC236}">
                <a16:creationId xmlns:a16="http://schemas.microsoft.com/office/drawing/2014/main" id="{42A737E3-F393-0B08-D8F7-803B4749AE62}"/>
              </a:ext>
            </a:extLst>
          </p:cNvPr>
          <p:cNvSpPr/>
          <p:nvPr/>
        </p:nvSpPr>
        <p:spPr>
          <a:xfrm>
            <a:off x="10112791" y="3287677"/>
            <a:ext cx="1247644" cy="438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Eclipse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F73BD15-2CBF-6FC6-64D4-D3F54C6E090F}"/>
              </a:ext>
            </a:extLst>
          </p:cNvPr>
          <p:cNvSpPr/>
          <p:nvPr/>
        </p:nvSpPr>
        <p:spPr>
          <a:xfrm>
            <a:off x="4001951" y="3792533"/>
            <a:ext cx="7635877" cy="2649762"/>
          </a:xfrm>
          <a:prstGeom prst="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97A7F2C-0BDC-0C5F-A662-0B9AB0B43304}"/>
              </a:ext>
            </a:extLst>
          </p:cNvPr>
          <p:cNvCxnSpPr/>
          <p:nvPr/>
        </p:nvCxnSpPr>
        <p:spPr>
          <a:xfrm>
            <a:off x="9624291" y="3429000"/>
            <a:ext cx="0" cy="2913625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D51C93E2-9FE5-405D-91DE-D842F7917CA7}"/>
              </a:ext>
            </a:extLst>
          </p:cNvPr>
          <p:cNvSpPr txBox="1"/>
          <p:nvPr/>
        </p:nvSpPr>
        <p:spPr>
          <a:xfrm>
            <a:off x="4001950" y="6066885"/>
            <a:ext cx="2787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Virtual Environment</a:t>
            </a:r>
          </a:p>
        </p:txBody>
      </p:sp>
    </p:spTree>
    <p:extLst>
      <p:ext uri="{BB962C8B-B14F-4D97-AF65-F5344CB8AC3E}">
        <p14:creationId xmlns:p14="http://schemas.microsoft.com/office/powerpoint/2010/main" val="1983903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7971" y="408326"/>
            <a:ext cx="106974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A. Data Required for Emergency Treatment</a:t>
            </a:r>
          </a:p>
          <a:p>
            <a:endParaRPr lang="en-US" sz="2000" b="1" dirty="0"/>
          </a:p>
          <a:p>
            <a:r>
              <a:rPr lang="en-US" sz="2000" b="1" dirty="0"/>
              <a:t>Patient Queries:</a:t>
            </a:r>
          </a:p>
          <a:p>
            <a:endParaRPr lang="en-US" sz="800" b="1" dirty="0"/>
          </a:p>
          <a:p>
            <a:pPr marL="342900" indent="-342900">
              <a:buAutoNum type="arabicPeriod"/>
            </a:pPr>
            <a:r>
              <a:rPr lang="en-US" dirty="0"/>
              <a:t>Patients with RPR in the last two months</a:t>
            </a:r>
          </a:p>
          <a:p>
            <a:pPr marL="342900" indent="-342900">
              <a:buAutoNum type="arabicPeriod"/>
            </a:pPr>
            <a:r>
              <a:rPr lang="en-US" dirty="0"/>
              <a:t>Patients have </a:t>
            </a:r>
            <a:r>
              <a:rPr lang="en-US" dirty="0" err="1"/>
              <a:t>CTSim</a:t>
            </a:r>
            <a:r>
              <a:rPr lang="en-US" dirty="0"/>
              <a:t> done in the last two weeks</a:t>
            </a:r>
          </a:p>
          <a:p>
            <a:pPr marL="342900" indent="-342900">
              <a:buAutoNum type="arabicPeriod"/>
            </a:pPr>
            <a:r>
              <a:rPr lang="en-US" i="1" dirty="0">
                <a:solidFill>
                  <a:schemeClr val="accent1"/>
                </a:solidFill>
              </a:rPr>
              <a:t>Patients have RT Plan Reviewed and Approved in the last two weeks</a:t>
            </a:r>
          </a:p>
          <a:p>
            <a:pPr marL="342900" indent="-342900">
              <a:buAutoNum type="arabicPeriod"/>
            </a:pPr>
            <a:r>
              <a:rPr lang="en-US" i="1" dirty="0">
                <a:solidFill>
                  <a:schemeClr val="accent1"/>
                </a:solidFill>
              </a:rPr>
              <a:t>Patients received treatment today</a:t>
            </a:r>
          </a:p>
          <a:p>
            <a:pPr marL="342900" indent="-342900">
              <a:buAutoNum type="arabicPeriod"/>
            </a:pPr>
            <a:r>
              <a:rPr lang="en-US" i="1" dirty="0">
                <a:solidFill>
                  <a:schemeClr val="accent1"/>
                </a:solidFill>
              </a:rPr>
              <a:t>Patients have treatment scheduled for the next 7 days</a:t>
            </a:r>
          </a:p>
          <a:p>
            <a:pPr marL="342900" indent="-342900">
              <a:buAutoNum type="arabicPeriod"/>
            </a:pPr>
            <a:r>
              <a:rPr lang="en-US" dirty="0"/>
              <a:t>RPR Info (Questionnaires)</a:t>
            </a:r>
          </a:p>
          <a:p>
            <a:pPr marL="342900" indent="-342900">
              <a:buAutoNum type="arabicPeriod"/>
            </a:pPr>
            <a:r>
              <a:rPr lang="en-US" dirty="0"/>
              <a:t>Quick Notes: setup info, treatment notes, physician orders etc. (Journal)</a:t>
            </a:r>
          </a:p>
          <a:p>
            <a:pPr marL="342900" indent="-342900">
              <a:buAutoNum type="arabicPeriod"/>
            </a:pPr>
            <a:r>
              <a:rPr lang="en-US" dirty="0"/>
              <a:t>Prescription</a:t>
            </a:r>
          </a:p>
          <a:p>
            <a:pPr marL="342900" indent="-342900">
              <a:buAutoNum type="arabicPeriod"/>
            </a:pPr>
            <a:r>
              <a:rPr lang="en-US" dirty="0"/>
              <a:t>Patient demographics, contacts, and health insurance info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sz="2000" b="1" dirty="0"/>
              <a:t>Data Moving: Patient Scheduled for the next 7 days:</a:t>
            </a:r>
          </a:p>
          <a:p>
            <a:endParaRPr lang="en-US" sz="800" b="1" dirty="0"/>
          </a:p>
          <a:p>
            <a:pPr marL="342900" indent="-342900">
              <a:buAutoNum type="arabicPeriod"/>
            </a:pPr>
            <a:r>
              <a:rPr lang="en-US" dirty="0"/>
              <a:t>Files for DICOM RT mode treatment: DICOM CT, RP, RS, RI</a:t>
            </a:r>
          </a:p>
          <a:p>
            <a:pPr marL="342900" indent="-342900">
              <a:buAutoNum type="arabicPeriod"/>
            </a:pPr>
            <a:r>
              <a:rPr lang="en-US" dirty="0"/>
              <a:t>Other DICOM files: </a:t>
            </a:r>
            <a:r>
              <a:rPr lang="en-US" dirty="0" err="1"/>
              <a:t>Tx</a:t>
            </a:r>
            <a:r>
              <a:rPr lang="en-US" dirty="0"/>
              <a:t> Records, RGSC Motion Tracking</a:t>
            </a:r>
          </a:p>
          <a:p>
            <a:pPr marL="342900" indent="-342900">
              <a:buAutoNum type="arabicPeriod"/>
            </a:pPr>
            <a:r>
              <a:rPr lang="en-US" dirty="0"/>
              <a:t>Patient documents: </a:t>
            </a:r>
            <a:r>
              <a:rPr lang="en-US" dirty="0" err="1"/>
              <a:t>CTSim</a:t>
            </a:r>
            <a:r>
              <a:rPr lang="en-US" dirty="0"/>
              <a:t>/planning notes, QA doc etc.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589" y="99405"/>
            <a:ext cx="2647950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45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7971" y="408326"/>
            <a:ext cx="10697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B. DICOM RT Mode -- TrueBeam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955" y="1658119"/>
            <a:ext cx="6018045" cy="2590608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489526" y="1577876"/>
            <a:ext cx="559723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Mark OT"/>
              </a:rPr>
              <a:t>To use File Mode the following is required:</a:t>
            </a:r>
          </a:p>
          <a:p>
            <a:endParaRPr lang="en-US" b="1" dirty="0">
              <a:solidFill>
                <a:srgbClr val="000000"/>
              </a:solidFill>
              <a:latin typeface="Mark OT"/>
            </a:endParaRP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accent2"/>
                </a:solidFill>
                <a:latin typeface="Mark OT"/>
              </a:rPr>
              <a:t>DICOM Plan files </a:t>
            </a:r>
            <a:r>
              <a:rPr lang="en-US" dirty="0">
                <a:solidFill>
                  <a:srgbClr val="000000"/>
                </a:solidFill>
                <a:latin typeface="Mark OT"/>
              </a:rPr>
              <a:t>uploaded to the I: drive. These must have been exported from the OIS in advance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accent2"/>
                </a:solidFill>
                <a:latin typeface="Mark OT"/>
              </a:rPr>
              <a:t>Access to the network I: drive </a:t>
            </a:r>
            <a:r>
              <a:rPr lang="en-US" dirty="0">
                <a:solidFill>
                  <a:srgbClr val="000000"/>
                </a:solidFill>
                <a:latin typeface="Mark OT"/>
              </a:rPr>
              <a:t>(in order to access Patient DICOM files) from the TrueBeam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000000"/>
                </a:solidFill>
                <a:latin typeface="Mark OT"/>
              </a:rPr>
              <a:t>Access to OSP/VSP for </a:t>
            </a:r>
            <a:r>
              <a:rPr lang="en-US" dirty="0">
                <a:latin typeface="Mark OT"/>
              </a:rPr>
              <a:t>User Rights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2"/>
                </a:solidFill>
                <a:latin typeface="Mark OT"/>
              </a:rPr>
              <a:t>If OSP is offline, credentials are held / cached locally on the TrueBeam for 5 days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26477" y="5077691"/>
            <a:ext cx="1070494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i="1" dirty="0">
                <a:latin typeface="Mark OT"/>
              </a:rPr>
              <a:t>If the network is down (1), or there is no connectivity to the I: drive (2), or the DICOM Plan files were not exported from the OIS system in advance (3), then there is no workaround to treat patients on the TrueBeam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0000"/>
                </a:solidFill>
              </a:rPr>
              <a:t>File Mode Has Some Risks</a:t>
            </a:r>
            <a:r>
              <a:rPr lang="en-US" dirty="0"/>
              <a:t>, such as the potential to treat the wrong patient, wrong anatomy or wrong field, if care is not taken</a:t>
            </a:r>
          </a:p>
        </p:txBody>
      </p:sp>
    </p:spTree>
    <p:extLst>
      <p:ext uri="{BB962C8B-B14F-4D97-AF65-F5344CB8AC3E}">
        <p14:creationId xmlns:p14="http://schemas.microsoft.com/office/powerpoint/2010/main" val="2335486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6DECF-5B29-E1F5-7212-82E4637AA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3EC66E-3E39-7C3A-FCC9-BC0B30EBDED6}"/>
              </a:ext>
            </a:extLst>
          </p:cNvPr>
          <p:cNvSpPr txBox="1"/>
          <p:nvPr/>
        </p:nvSpPr>
        <p:spPr>
          <a:xfrm>
            <a:off x="847971" y="408326"/>
            <a:ext cx="10697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C. RT-DP on GitHub   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[https://github.com/lixinzhan/RT-DP]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1281E1-BDE0-6C5F-8BDF-B43A81EAD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57" y="1175979"/>
            <a:ext cx="11386686" cy="554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196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4190</TotalTime>
  <Words>664</Words>
  <Application>Microsoft Office PowerPoint</Application>
  <PresentationFormat>Widescreen</PresentationFormat>
  <Paragraphs>123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Mark OT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 Disaster Remediate Plan</dc:title>
  <dc:creator>Lixin Zhan</dc:creator>
  <cp:lastModifiedBy>Lixin Zhan</cp:lastModifiedBy>
  <cp:revision>195</cp:revision>
  <cp:lastPrinted>2024-05-31T19:01:13Z</cp:lastPrinted>
  <dcterms:created xsi:type="dcterms:W3CDTF">2024-01-25T14:43:57Z</dcterms:created>
  <dcterms:modified xsi:type="dcterms:W3CDTF">2025-11-27T05:03:27Z</dcterms:modified>
</cp:coreProperties>
</file>